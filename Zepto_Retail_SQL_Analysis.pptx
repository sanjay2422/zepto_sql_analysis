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1463040" cy="64008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7373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D9CCF5"/>
                </a:solidFill>
                <a:latin typeface="Calibri"/>
              </a:rPr>
              <a:t>Inventory Health, Pricing Strategy, and Revenue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Sanjay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3000">
                <a:solidFill>
                  <a:srgbClr val="2B2B33"/>
                </a:solidFill>
                <a:latin typeface="Calibri"/>
              </a:rPr>
              <a:t>Objective: </a:t>
            </a:r>
            <a:r>
              <a:rPr sz="3000">
                <a:solidFill>
                  <a:srgbClr val="1A202C"/>
                </a:solidFill>
                <a:latin typeface="Calibri"/>
              </a:rPr>
              <a:t>Analyze rapid-delivery retail inventory data using SQL to extract business intelligence.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3000">
                <a:solidFill>
                  <a:srgbClr val="2B2B33"/>
                </a:solidFill>
                <a:latin typeface="Calibri"/>
              </a:rPr>
              <a:t>Focus Areas: </a:t>
            </a:r>
            <a:r>
              <a:rPr sz="3000">
                <a:solidFill>
                  <a:srgbClr val="1A202C"/>
                </a:solidFill>
                <a:latin typeface="Calibri"/>
              </a:rPr>
              <a:t>Evaluate stock health, standardizing pricing, and forecast revenue.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3000">
                <a:solidFill>
                  <a:srgbClr val="2B2B33"/>
                </a:solidFill>
                <a:latin typeface="Calibri"/>
              </a:rPr>
              <a:t>Outcome: </a:t>
            </a:r>
            <a:r>
              <a:rPr sz="3000">
                <a:solidFill>
                  <a:srgbClr val="1A202C"/>
                </a:solidFill>
                <a:latin typeface="Calibri"/>
              </a:rPr>
              <a:t>Delivered actionable insights on discount efficiency, stockout patterns, and logistics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Inventory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Total Active Catalog: </a:t>
            </a:r>
            <a:r>
              <a:rPr sz="2400">
                <a:solidFill>
                  <a:srgbClr val="1A202C"/>
                </a:solidFill>
                <a:latin typeface="Calibri"/>
              </a:rPr>
              <a:t>3,731 Product SKUs across 14 categories.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Physical Inventory: </a:t>
            </a:r>
            <a:r>
              <a:rPr sz="2400">
                <a:solidFill>
                  <a:srgbClr val="1A202C"/>
                </a:solidFill>
                <a:latin typeface="Calibri"/>
              </a:rPr>
              <a:t>~14,959 units currently in stock.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Estimated Total Value: </a:t>
            </a:r>
            <a:r>
              <a:rPr sz="2400">
                <a:solidFill>
                  <a:srgbClr val="1A202C"/>
                </a:solidFill>
                <a:latin typeface="Calibri"/>
              </a:rPr>
              <a:t>₹2.24 Million.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Data Cleaning: </a:t>
            </a:r>
            <a:r>
              <a:rPr sz="2400">
                <a:solidFill>
                  <a:srgbClr val="1A202C"/>
                </a:solidFill>
                <a:latin typeface="Calibri"/>
              </a:rPr>
              <a:t>Filtered out invalid records (MRP = 0) and converted monetary values from paise to standard rupees.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64592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91440" cy="1325880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6C3FD1"/>
                </a:solidFill>
                <a:latin typeface="Calibri"/>
              </a:rPr>
              <a:t>3,731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1493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Product SKUs, 14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20040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200400"/>
            <a:ext cx="91440" cy="1325880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6C3FD1"/>
                </a:solidFill>
                <a:latin typeface="Calibri"/>
              </a:rPr>
              <a:t>~14,959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96941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Units in stock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75488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754880"/>
            <a:ext cx="91440" cy="132588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84632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E8E4E"/>
                </a:solidFill>
                <a:latin typeface="Calibri"/>
              </a:rPr>
              <a:t>₹2.24M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52389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Estimated inventory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Core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Stock Health: </a:t>
            </a:r>
            <a:r>
              <a:rPr sz="2600">
                <a:solidFill>
                  <a:srgbClr val="1A202C"/>
                </a:solidFill>
                <a:latin typeface="Calibri"/>
              </a:rPr>
              <a:t>453 items currently marked as out of stock.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Discounting Metrics: </a:t>
            </a:r>
            <a:r>
              <a:rPr sz="2600">
                <a:solidFill>
                  <a:srgbClr val="1A202C"/>
                </a:solidFill>
                <a:latin typeface="Calibri"/>
              </a:rPr>
              <a:t>Average product discount is 7.62% across the catalog, peaking at 51%.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Category Yield: </a:t>
            </a:r>
            <a:r>
              <a:rPr sz="2600">
                <a:solidFill>
                  <a:srgbClr val="1A202C"/>
                </a:solidFill>
                <a:latin typeface="Calibri"/>
              </a:rPr>
              <a:t>High variability in revenue-to-weight ratios across the 14 product categories.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64592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91440" cy="13258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C62828"/>
                </a:solidFill>
                <a:latin typeface="Calibri"/>
              </a:rPr>
              <a:t>453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1493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Items out of stock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20040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200400"/>
            <a:ext cx="91440" cy="1325880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6C3FD1"/>
                </a:solidFill>
                <a:latin typeface="Calibri"/>
              </a:rPr>
              <a:t>7.62%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96941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Average discount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754880"/>
            <a:ext cx="3749039" cy="132588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754880"/>
            <a:ext cx="91440" cy="132588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84632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E8E4E"/>
                </a:solidFill>
                <a:latin typeface="Calibri"/>
              </a:rPr>
              <a:t>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52389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Peak discount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 the Data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Lost Revenue: </a:t>
            </a:r>
            <a:r>
              <a:rPr sz="2600">
                <a:solidFill>
                  <a:srgbClr val="1A202C"/>
                </a:solidFill>
                <a:latin typeface="Calibri"/>
              </a:rPr>
              <a:t>High-value items (MRP &gt; ₹300) that are out of stock represent immediate missed revenue opportunities.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Discount Efficiency: </a:t>
            </a:r>
            <a:r>
              <a:rPr sz="2600">
                <a:solidFill>
                  <a:srgbClr val="1A202C"/>
                </a:solidFill>
                <a:latin typeface="Calibri"/>
              </a:rPr>
              <a:t>Certain top categories offer high average discounts, but require monitoring to ensure they yield proportional sales volume.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600">
                <a:solidFill>
                  <a:srgbClr val="2B2B33"/>
                </a:solidFill>
                <a:latin typeface="Calibri"/>
              </a:rPr>
              <a:t>Value Density: </a:t>
            </a:r>
            <a:r>
              <a:rPr sz="2600">
                <a:solidFill>
                  <a:srgbClr val="1A202C"/>
                </a:solidFill>
                <a:latin typeface="Calibri"/>
              </a:rPr>
              <a:t>Calculating price-per-gram for items over 100g reveals distinct clusters of customer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Address Stockouts: </a:t>
            </a:r>
            <a:r>
              <a:rPr sz="2400">
                <a:solidFill>
                  <a:srgbClr val="1A202C"/>
                </a:solidFill>
                <a:latin typeface="Calibri"/>
              </a:rPr>
              <a:t>Prioritize restocking the 453 out-of-stock items, specifically targeting those with an MRP &gt; ₹300 to capture lost revenue.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Optimize Logistics: </a:t>
            </a:r>
            <a:r>
              <a:rPr sz="2400">
                <a:solidFill>
                  <a:srgbClr val="1A202C"/>
                </a:solidFill>
                <a:latin typeface="Calibri"/>
              </a:rPr>
              <a:t>Segment inventory into “Low,” “Medium,” and “Bulk” weight categories to improve delivery bag packing and logistics planning.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400">
                <a:solidFill>
                  <a:srgbClr val="2B2B33"/>
                </a:solidFill>
                <a:latin typeface="Calibri"/>
              </a:rPr>
              <a:t>Target High-Yield Categories: </a:t>
            </a:r>
            <a:r>
              <a:rPr sz="2400">
                <a:solidFill>
                  <a:srgbClr val="1A202C"/>
                </a:solidFill>
                <a:latin typeface="Calibri"/>
              </a:rPr>
              <a:t>Focus marketing and inventory capital on categories that provide the highest profit margins with the lowest physical delivery strain.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Zepto Retail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b="1" sz="2800">
                <a:solidFill>
                  <a:srgbClr val="2B2B33"/>
                </a:solidFill>
                <a:latin typeface="Calibri"/>
              </a:rPr>
              <a:t>Full Analysis &amp; SQL Code: </a:t>
            </a:r>
            <a:r>
              <a:rPr sz="2800">
                <a:solidFill>
                  <a:srgbClr val="1A202C"/>
                </a:solidFill>
                <a:latin typeface="Calibri"/>
              </a:rPr>
              <a:t>GitHub Repository - @Sanjay2422</a:t>
            </a:r>
          </a:p>
          <a:p>
            <a:pPr marL="342900" indent="-342900">
              <a:spcAft>
                <a:spcPts val="2200"/>
              </a:spcAft>
              <a:buClr>
                <a:srgbClr val="6C3FD1"/>
              </a:buClr>
              <a:buFont typeface="Arial"/>
              <a:buChar char="■"/>
            </a:pPr>
            <a:r>
              <a:rPr sz="2800">
                <a:solidFill>
                  <a:srgbClr val="1A202C"/>
                </a:solidFill>
                <a:latin typeface="Calibri"/>
              </a:rPr>
              <a:t>Q&amp;A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solidFill>
            <a:srgbClr val="F2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91440" cy="100584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100584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2B2B33"/>
                </a:solidFill>
                <a:latin typeface="Calibri"/>
              </a:rPr>
              <a:t>Thank you — Sanjay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